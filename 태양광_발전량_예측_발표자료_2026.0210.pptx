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74" r:id="rId9"/>
    <p:sldId id="276" r:id="rId10"/>
    <p:sldId id="261" r:id="rId11"/>
    <p:sldId id="262" r:id="rId12"/>
    <p:sldId id="277" r:id="rId13"/>
    <p:sldId id="263" r:id="rId14"/>
    <p:sldId id="278" r:id="rId15"/>
    <p:sldId id="264" r:id="rId16"/>
    <p:sldId id="265" r:id="rId17"/>
    <p:sldId id="279" r:id="rId18"/>
    <p:sldId id="268" r:id="rId19"/>
    <p:sldId id="280" r:id="rId20"/>
    <p:sldId id="281" r:id="rId21"/>
    <p:sldId id="282" r:id="rId22"/>
    <p:sldId id="283" r:id="rId23"/>
    <p:sldId id="269" r:id="rId24"/>
    <p:sldId id="27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21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PCC 상관관계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지표면일사량</c:v>
                </c:pt>
                <c:pt idx="1">
                  <c:v>대기권밖일사량</c:v>
                </c:pt>
                <c:pt idx="2">
                  <c:v>일조</c:v>
                </c:pt>
                <c:pt idx="3">
                  <c:v>습도</c:v>
                </c:pt>
                <c:pt idx="4">
                  <c:v>전운량(3분위)</c:v>
                </c:pt>
                <c:pt idx="5">
                  <c:v>전운량(10분위)</c:v>
                </c:pt>
                <c:pt idx="6">
                  <c:v>기온</c:v>
                </c:pt>
                <c:pt idx="7">
                  <c:v>풍속</c:v>
                </c:pt>
                <c:pt idx="8">
                  <c:v>강수량</c:v>
                </c:pt>
                <c:pt idx="9">
                  <c:v>적설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0.84750000000000003</c:v>
                </c:pt>
                <c:pt idx="1">
                  <c:v>0.79769999999999996</c:v>
                </c:pt>
                <c:pt idx="2">
                  <c:v>0.6925</c:v>
                </c:pt>
                <c:pt idx="3">
                  <c:v>0.33810000000000001</c:v>
                </c:pt>
                <c:pt idx="4">
                  <c:v>0.25619999999999998</c:v>
                </c:pt>
                <c:pt idx="5">
                  <c:v>0.25090000000000001</c:v>
                </c:pt>
                <c:pt idx="6">
                  <c:v>0.1923</c:v>
                </c:pt>
                <c:pt idx="7">
                  <c:v>0.16200000000000001</c:v>
                </c:pt>
                <c:pt idx="8">
                  <c:v>6.3700000000000007E-2</c:v>
                </c:pt>
                <c:pt idx="9">
                  <c:v>8.0000000000000002E-3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50-478C-A4AA-308D3FDF0A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LSTM+Linear
(Test)</c:v>
                </c:pt>
                <c:pt idx="1">
                  <c:v>CNN-LSTM-Att
(No_Wt)</c:v>
                </c:pt>
                <c:pt idx="2">
                  <c:v>CNN-LSTM
(No_Wt)</c:v>
                </c:pt>
                <c:pt idx="3">
                  <c:v>LSTM+Linear
(Train)</c:v>
                </c:pt>
                <c:pt idx="4">
                  <c:v>Random
Forest</c:v>
                </c:pt>
                <c:pt idx="5">
                  <c:v>XGBoost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0.98799999999999999</c:v>
                </c:pt>
                <c:pt idx="1">
                  <c:v>0.88849999999999996</c:v>
                </c:pt>
                <c:pt idx="2">
                  <c:v>0.88239999999999996</c:v>
                </c:pt>
                <c:pt idx="3">
                  <c:v>0.871</c:v>
                </c:pt>
                <c:pt idx="4">
                  <c:v>0.91</c:v>
                </c:pt>
                <c:pt idx="5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B-4E29-9593-9829BE55B3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90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0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09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8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54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62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04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05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05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57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63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3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2" y="4851248"/>
            <a:ext cx="522684" cy="29225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43135" y="4904427"/>
            <a:ext cx="1000865" cy="23907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rgbClr val="0070C0">
              <a:alpha val="6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61031"/>
            <a:ext cx="808942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Georgia" pitchFamily="34" charset="-120"/>
              </a:rPr>
              <a:t>일조량을 반영한 인공지능 기반</a:t>
            </a:r>
            <a:endParaRPr lang="en-US" sz="3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Georgia" pitchFamily="34" charset="-120"/>
              </a:rPr>
              <a:t>독립형 태양광 하이브리드의</a:t>
            </a:r>
            <a:endParaRPr lang="en-US" sz="3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92D05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Georgia" pitchFamily="34" charset="-120"/>
              </a:rPr>
              <a:t>발전량 예측 </a:t>
            </a:r>
            <a:r>
              <a:rPr lang="en-US" sz="3000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Georgia" pitchFamily="34" charset="-120"/>
              </a:rPr>
              <a:t>모델 연구</a:t>
            </a:r>
            <a:endParaRPr lang="en-US" sz="3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2042" y="2747031"/>
            <a:ext cx="27399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2026. 1. 10.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 rot="5400000" flipV="1">
            <a:off x="4544868" y="4099222"/>
            <a:ext cx="347472" cy="4571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76766" y="3949988"/>
            <a:ext cx="3747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2000" b="1" dirty="0" err="1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국립경국대</a:t>
            </a:r>
            <a:endParaRPr lang="en-US" altLang="ko-KR" sz="20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컴퓨터공학과 심재창 </a:t>
            </a:r>
          </a:p>
        </p:txBody>
      </p:sp>
      <p:sp>
        <p:nvSpPr>
          <p:cNvPr id="10" name="Text 6"/>
          <p:cNvSpPr/>
          <p:nvPr/>
        </p:nvSpPr>
        <p:spPr>
          <a:xfrm>
            <a:off x="5018797" y="3948345"/>
            <a:ext cx="3747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</a:t>
            </a:r>
            <a:r>
              <a:rPr lang="en-US" altLang="ko-KR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2000" b="1" dirty="0" err="1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기븐텍</a:t>
            </a:r>
            <a:r>
              <a:rPr lang="ko-KR" alt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endParaRPr lang="en-US" altLang="ko-KR" sz="20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대표 </a:t>
            </a:r>
            <a:r>
              <a:rPr lang="ko-KR" altLang="en-US" sz="2000" b="1" dirty="0" err="1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김창한</a:t>
            </a:r>
            <a:r>
              <a:rPr lang="ko-KR" alt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2" y="4613546"/>
            <a:ext cx="832438" cy="46544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468" y="4786741"/>
            <a:ext cx="1223497" cy="29225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990" y="42607"/>
            <a:ext cx="385690" cy="3965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연구의 필요성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 및 목적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762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내용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및 가중치 설계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249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288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내용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292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및 실험 환경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73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및 성능 분석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82219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8288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0292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결과 요약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25400" dist="25400" dir="81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37083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80160" y="4297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18288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기대효과 및 실적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0292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활용 및 연구 성과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연구의 필요성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937" y="1091805"/>
            <a:ext cx="8462305" cy="368826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937" y="1091805"/>
            <a:ext cx="8462305" cy="5985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12977" y="1411845"/>
            <a:ext cx="529133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43" y="1474710"/>
            <a:ext cx="396850" cy="396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777" y="1411845"/>
            <a:ext cx="5903933" cy="54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신재생 에너지 전환의 시대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2110" y="1919007"/>
            <a:ext cx="7407343" cy="2494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ko-KR" alt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중립</a:t>
            </a:r>
            <a:r>
              <a:rPr lang="ko-KR" alt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목표로 하는 </a:t>
            </a:r>
            <a:r>
              <a:rPr lang="ko-KR" alt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전환 정책이 가속화 </a:t>
            </a:r>
            <a:endParaRPr lang="en-US" altLang="ko-KR" sz="1400" b="1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태양광 에너지는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전 세계 청정 전원 비중 40.9% 돌파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재생에너지 비중: 2030년 18.8% → 2038년 29.2% 전망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기존 태양광 발전량 예측 모델의 한계</a:t>
            </a:r>
            <a:endParaRPr lang="en-US" altLang="ko-KR" sz="1400" spc="-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일반적인 기상 데이터 의존으로 </a:t>
            </a:r>
            <a:r>
              <a:rPr lang="ko-KR" altLang="en-US" sz="1400" spc="-100" dirty="0">
                <a:solidFill>
                  <a:srgbClr val="FF0000"/>
                </a:solidFill>
              </a:rPr>
              <a:t>예보 데이터의 정확도가 떨어짐</a:t>
            </a:r>
            <a:endParaRPr lang="en-US" altLang="ko-KR" sz="1400" spc="-100" dirty="0">
              <a:solidFill>
                <a:srgbClr val="FF0000"/>
              </a:solidFill>
            </a:endParaRPr>
          </a:p>
          <a:p>
            <a:pPr marL="800100" lvl="1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b="1" spc="-100" dirty="0"/>
              <a:t>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태양광 에너지의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간헐성 및 변동성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</a:p>
          <a:p>
            <a:pPr marL="800100" lvl="1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요인에 따른 비선형적 변동성을 </a:t>
            </a:r>
            <a:r>
              <a:rPr lang="ko-KR" altLang="en-US" sz="1400" spc="-100" dirty="0">
                <a:solidFill>
                  <a:srgbClr val="FF0000"/>
                </a:solidFill>
              </a:rPr>
              <a:t>효과적으로 예측하는 데 구조적인 어려움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</a:t>
            </a:r>
            <a:r>
              <a:rPr lang="ko-KR" altLang="en-US" sz="14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이용한 </a:t>
            </a:r>
            <a:r>
              <a:rPr lang="en-US" sz="14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발전량 예측 → 전력 시장 효율성 확보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연구의 필요성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937" y="1091805"/>
            <a:ext cx="8462305" cy="368826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937" y="1091805"/>
            <a:ext cx="8462305" cy="5985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9"/>
          <p:cNvSpPr/>
          <p:nvPr/>
        </p:nvSpPr>
        <p:spPr>
          <a:xfrm>
            <a:off x="640080" y="1283875"/>
            <a:ext cx="524981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6" y="1346740"/>
            <a:ext cx="393736" cy="393736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325880" y="1283875"/>
            <a:ext cx="28635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발전량 예측의 경제적 가치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1476" y="1934885"/>
            <a:ext cx="702051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불균형 페널티(Imbalance Penalty) 절감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저탄소 발전원 전환의 경제적 유도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거래 용이 · 전력망 운영 최적화</a:t>
            </a:r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전력 소비지 인근에 설치되어 </a:t>
            </a:r>
            <a:r>
              <a:rPr lang="ko-KR" altLang="en-US" sz="1400" b="1" spc="-100" dirty="0">
                <a:solidFill>
                  <a:srgbClr val="FF0000"/>
                </a:solidFill>
              </a:rPr>
              <a:t>송전 손실을 최소화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하고 에너지 효율을 증대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배출권 시장 효율성 상승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24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연구의 목적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9124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64008" cy="9124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05840"/>
            <a:ext cx="3657600" cy="17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ko-KR" alt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과제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목적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179646"/>
            <a:ext cx="7589520" cy="651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indent="-180000">
              <a:buFont typeface="Wingdings" panose="05000000000000000000" pitchFamily="2" charset="2"/>
              <a:buChar char="v"/>
            </a:pP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인공지능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기반</a:t>
            </a:r>
            <a:r>
              <a:rPr lang="en-US" altLang="ko-KR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날씨 데이터 이용</a:t>
            </a:r>
            <a:r>
              <a:rPr lang="en-US" altLang="ko-KR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독립형 태양광 하이브리드의 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발전량을 예측하는 모델 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개발</a:t>
            </a:r>
            <a:endParaRPr lang="en-US" altLang="ko-KR" sz="1200" spc="-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01" y="1918324"/>
            <a:ext cx="7546642" cy="199964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99" y="4028339"/>
            <a:ext cx="1861636" cy="942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연구의 한계</a:t>
            </a:r>
            <a:endParaRPr lang="en-US" altLang="ko-KR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79"/>
            <a:ext cx="8229600" cy="3540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79"/>
            <a:ext cx="64008" cy="354042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연구의 한계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54481"/>
            <a:ext cx="8312006" cy="201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선행 연구들은 기상 특징이 발전량에 미치는 상대적 중요도 차이(</a:t>
            </a:r>
            <a:r>
              <a:rPr lang="en-US" sz="120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상관관계)를 분석 </a:t>
            </a:r>
            <a:r>
              <a:rPr lang="ko-KR" altLang="en-US" sz="120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활용 부재</a:t>
            </a:r>
            <a:endParaRPr lang="en-US" altLang="ko-KR" sz="1200" dirty="0">
              <a:highlight>
                <a:srgbClr val="FFFF00"/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예측 과정에 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기상의 특징을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차등적으로 반영하는 데 소홀 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모든 특징을 균등 가중치로 취급 시 노이즈 학습 및 예측 성능 저하 초래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물리 기반 접근은 해석 가능성이 높지만 현장 요인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설비 노후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오염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주변 환경 변화 등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)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을 충분히 반영하기 어려움</a:t>
            </a:r>
            <a:endParaRPr lang="en-US" altLang="ko-KR" sz="1200" dirty="0"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/>
              <a:t>모든 기상 상황에서  단일 모델을 이용하여 모델 성능을 해석</a:t>
            </a:r>
            <a:endParaRPr lang="en-US" altLang="ko-KR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/>
              <a:t>태양광 셀의 물리적 특성에 의해 비선형성과 출력 포화 특성은 기존의 선형 가정에 기반한 분석이나 </a:t>
            </a:r>
            <a:br>
              <a:rPr lang="en-US" altLang="ko-KR" sz="1200" dirty="0"/>
            </a:br>
            <a:r>
              <a:rPr lang="ko-KR" altLang="en-US" sz="1200" dirty="0"/>
              <a:t>통계적 접근 방법으로 </a:t>
            </a:r>
            <a:r>
              <a:rPr lang="ko-KR" altLang="en-US" sz="1200" dirty="0">
                <a:highlight>
                  <a:srgbClr val="FFFF00"/>
                </a:highlight>
              </a:rPr>
              <a:t>설명 불가</a:t>
            </a:r>
            <a:endParaRPr lang="en-US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619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상관관계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2A64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3830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피어슨 상관계수 (PCC)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19" y="1965960"/>
            <a:ext cx="3468149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 간의 선형 관계의 강도와 방향을 측정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+1에 가까울수록: 강한 양의 선형 상관관계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-1에 가까울수록: 강한 음의 선형 상관관계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0에 가까울수록: 선형 상관관계 없음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일사량처럼 발전량과 직접적이고 비례하는 관계의 변수 중요도를 정확하게 측정 가능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상관계수 방법 비교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557299"/>
              </p:ext>
            </p:extLst>
          </p:nvPr>
        </p:nvGraphicFramePr>
        <p:xfrm>
          <a:off x="4937760" y="1783080"/>
          <a:ext cx="3566160" cy="18288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적용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PCC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선형 관계 측정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연속형 변수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선정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SCC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스펙트럼 유사성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분광학 분야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6A34A"/>
                          </a:solidFill>
                        </a:rPr>
                        <a:t>✓ 선정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KCC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순위 일관성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비모수적 지표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EC123C8-906A-46BB-995A-ED938401F1BF}"/>
              </a:ext>
            </a:extLst>
          </p:cNvPr>
          <p:cNvSpPr txBox="1"/>
          <p:nvPr/>
        </p:nvSpPr>
        <p:spPr>
          <a:xfrm>
            <a:off x="5234529" y="3734256"/>
            <a:ext cx="3378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PCC: Pearson Correlation Coefficient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SCC: Spectrum Correlation Coefficient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KCC: Kendal Correlation Coefficient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시간 </a:t>
            </a:r>
            <a:r>
              <a:rPr lang="ko-KR" altLang="en-US" sz="2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인코딩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4201"/>
            <a:ext cx="8451356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2801"/>
            <a:ext cx="457200" cy="457200"/>
          </a:xfrm>
          <a:prstGeom prst="ellipse">
            <a:avLst/>
          </a:prstGeom>
          <a:solidFill>
            <a:srgbClr val="2A64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289951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599" y="1232801"/>
            <a:ext cx="589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</a:t>
            </a:r>
            <a:r>
              <a:rPr lang="ko-KR" altLang="en-US" sz="1500" b="1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19" y="1872881"/>
            <a:ext cx="7272097" cy="1866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변수의 주기적 특성을 보존하기 위해 사인</a:t>
            </a:r>
            <a:r>
              <a:rPr lang="en-US" altLang="ko-KR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코사인 기반 순환 </a:t>
            </a:r>
            <a:r>
              <a:rPr lang="ko-KR" alt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인코딩을</a:t>
            </a:r>
            <a:r>
              <a:rPr lang="ko-KR" alt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적용</a:t>
            </a:r>
            <a:endParaRPr lang="en-US" altLang="ko-KR" sz="12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사인 및 코사인 함수는 각도 기반 함수</a:t>
            </a:r>
            <a:endParaRPr lang="en-US" sz="12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/>
              <a:t>시간 변수의 한 주기를 </a:t>
            </a:r>
            <a:r>
              <a:rPr lang="en-US" altLang="ko-KR" sz="1200" dirty="0"/>
              <a:t>2</a:t>
            </a:r>
            <a:r>
              <a:rPr lang="ko-KR" altLang="en-US" sz="1200" dirty="0"/>
              <a:t>파이로 스케일링하여 원 한 바퀴에 대응하는 방식으로 순환적 특성을 표현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/>
              <a:t>주기의 시작점과 종료 점이 동일한 위치로 매핑 되어 시간의 연속성과 주기적 특성이 보존하는 방법 </a:t>
            </a: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endParaRPr lang="en-US" sz="12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791" y="2217365"/>
            <a:ext cx="3173166" cy="68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1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앙상블 및 </a:t>
            </a:r>
            <a:r>
              <a:rPr lang="ko-KR" altLang="en-US" sz="2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스태킹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4201"/>
            <a:ext cx="8451356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2801"/>
            <a:ext cx="457200" cy="457200"/>
          </a:xfrm>
          <a:prstGeom prst="ellipse">
            <a:avLst/>
          </a:prstGeom>
          <a:solidFill>
            <a:srgbClr val="2A64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289951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599" y="1232801"/>
            <a:ext cx="589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및 </a:t>
            </a:r>
            <a:r>
              <a:rPr lang="ko-KR" altLang="en-US" sz="1500" b="1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스태킹</a:t>
            </a:r>
            <a:r>
              <a:rPr lang="ko-KR" alt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600" dirty="0"/>
              <a:t>Stacked Generalization)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19" y="1872881"/>
            <a:ext cx="7804706" cy="1866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기상 데이터는 동일한 입력 데이터라도 모델 구조에 따라</a:t>
            </a:r>
            <a:r>
              <a:rPr lang="en-US" altLang="ko-KR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오차 특성이 다르게 나타날 수 있음</a:t>
            </a:r>
            <a:endParaRPr lang="en-US" altLang="ko-KR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그리고 흐림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강수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급변 구간과 같은 특정 기상 조건에서는 단일 모델의 예측 실패가 크게 발생할 수 있음</a:t>
            </a:r>
            <a:endParaRPr lang="en-US" altLang="ko-KR" sz="1200" dirty="0"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0000FF"/>
                </a:solidFill>
                <a:latin typeface="Calibri" pitchFamily="34" charset="0"/>
                <a:cs typeface="Calibri" pitchFamily="34" charset="-120"/>
              </a:rPr>
              <a:t>앙상블 학습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은 여러 예측 모델의 결과를 결합하여 이러한 편향이나 분산을 완화하고 일반화 성능을 향상시킬 수 있는 방법</a:t>
            </a:r>
            <a:endParaRPr lang="en-US" altLang="ko-KR" sz="1200" dirty="0"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규칙기반 앙상블의 </a:t>
            </a:r>
            <a:r>
              <a:rPr lang="ko-KR" altLang="en-US" sz="12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문제점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:</a:t>
            </a:r>
          </a:p>
          <a:p>
            <a:pPr marL="628650" lvl="1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시간대나 기상 상황에 따라 </a:t>
            </a:r>
            <a:r>
              <a:rPr lang="ko-KR" altLang="en-US" sz="1200" dirty="0" err="1">
                <a:latin typeface="Calibri" pitchFamily="34" charset="0"/>
                <a:cs typeface="Calibri" pitchFamily="34" charset="-120"/>
              </a:rPr>
              <a:t>모델별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 신뢰도가 달라지는 경우 이를 고정 규칙만으로 반영하기에는 한계</a:t>
            </a:r>
            <a:endParaRPr lang="en-US" altLang="ko-KR" sz="1200" dirty="0"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200" dirty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200" dirty="0" err="1">
                <a:solidFill>
                  <a:srgbClr val="0000FF"/>
                </a:solidFill>
                <a:latin typeface="Calibri" pitchFamily="34" charset="0"/>
                <a:cs typeface="Calibri" pitchFamily="34" charset="-120"/>
              </a:rPr>
              <a:t>스태킹</a:t>
            </a:r>
            <a:r>
              <a:rPr lang="ko-KR" altLang="en-US" sz="1200" dirty="0" err="1">
                <a:latin typeface="Calibri" pitchFamily="34" charset="0"/>
                <a:cs typeface="Calibri" pitchFamily="34" charset="-120"/>
              </a:rPr>
              <a:t>은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 베이스 모델들의 예측 값을 입력으로 받아 메타 모델이 결합 규칙을 학습하는 </a:t>
            </a:r>
            <a:r>
              <a:rPr lang="ko-KR" altLang="en-US" sz="1200" dirty="0">
                <a:solidFill>
                  <a:srgbClr val="0000FF"/>
                </a:solidFill>
                <a:latin typeface="Calibri" pitchFamily="34" charset="0"/>
                <a:cs typeface="Calibri" pitchFamily="34" charset="-120"/>
              </a:rPr>
              <a:t>학습형 앙상블 기법</a:t>
            </a:r>
            <a:endParaRPr lang="en-US" sz="1200" dirty="0">
              <a:solidFill>
                <a:srgbClr val="0000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580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6가지 가중치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균등 (Uniform)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특성에 동일한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부여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= 1/p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(Linear)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절댓값을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가중치로 사용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2402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= |ri| / sum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2651760" cy="45720"/>
          </a:xfrm>
          <a:prstGeom prst="rect">
            <a:avLst/>
          </a:prstGeom>
          <a:solidFill>
            <a:srgbClr val="2A64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 (Squared)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상관관계를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더욱 강조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= ri^2 / sum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 (Rank)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상관도 순위 기반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부여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251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= p-rank+1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6324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(Threshold)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상관변수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명확히 배제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4251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|ri| &gt;= t -&gt;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63240"/>
            <a:ext cx="2651760" cy="457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 (Exponential)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지수함수 형태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강조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4251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= exp(a*|ri|)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적용 알고리즘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데이터의 장기 의존성 학습에 특화된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altLang="ko-KR" sz="1100" dirty="0"/>
              <a:t>Long Short-Term Memory)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1965960" cy="1005840"/>
          </a:xfrm>
          <a:prstGeom prst="rect">
            <a:avLst/>
          </a:prstGeom>
          <a:solidFill>
            <a:srgbClr val="2A649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CNN으로 공간적 특징 추출 후 LSTM으로 시계열 패턴 학습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196596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-Attention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CNN-LSTM에 Attention 메커니즘 추가하여 중요 시점에 집중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97280"/>
            <a:ext cx="1965960" cy="10058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결정 트리를 앙상블하여 안정적 예측 수행 (비교 모델)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연구 내용 — 적용 알고리즘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 err="1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머신러닝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그레디언트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부스팅</a:t>
            </a:r>
            <a:r>
              <a:rPr lang="en-US" altLang="ko-KR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GBM) 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프레임워크를 기반으로 성능과 속도를 극대화한 분산형 오픈 소스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eXtreme</a:t>
            </a:r>
            <a:r>
              <a:rPr lang="en-US" altLang="ko-KR" sz="1100" dirty="0"/>
              <a:t> Gradient Boosting)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1965960" cy="1005840"/>
          </a:xfrm>
          <a:prstGeom prst="rect">
            <a:avLst/>
          </a:prstGeom>
          <a:solidFill>
            <a:srgbClr val="2A649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LightBGM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리프 중심 트리 분할</a:t>
            </a:r>
            <a:r>
              <a:rPr lang="en-US" altLang="ko-KR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Leaf-wise) 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방식을 사용하여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보다 학습 속도가 빠르고 메모리 사용량이 적은 분산 </a:t>
            </a:r>
            <a:r>
              <a:rPr lang="ko-KR" alt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그래디언트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부스팅</a:t>
            </a: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프레임워크 </a:t>
            </a:r>
            <a:br>
              <a:rPr lang="en-US" altLang="ko-KR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1100" dirty="0"/>
              <a:t>(Light Gradient Boosting Machine)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196596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기본적으로 의사결정나무를 기반으로 한 앙상블 학습 방법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97280"/>
            <a:ext cx="1965960" cy="10058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</a:t>
            </a:r>
            <a:endParaRPr 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22860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결정 트리를 앙상블하여 안정적 예측 수행 (비교 모델)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3658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실험 내용 — 데이터 및 환경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3373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데이터1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423423"/>
              </p:ext>
            </p:extLst>
          </p:nvPr>
        </p:nvGraphicFramePr>
        <p:xfrm>
          <a:off x="640080" y="1920240"/>
          <a:ext cx="3566160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지역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제주도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발전소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</a:rPr>
                        <a:t>제주도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</a:rPr>
                        <a:t>동부발전소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기간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2019.01.01 ~ 2024.12.31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타겟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태양광 발전량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시계열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24시간(1일) 단위 생성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0" y="1280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13373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특징량 (10종)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74520"/>
          <a:ext cx="3566160" cy="281635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특징량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기온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강수량(mm)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습도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적설(cm)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풍속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전운량(10분위)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전운량(3분위)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일조(hr)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대기권밖 일사량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지표면 일사량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HW: Intel Core 3.0GHz / NVIDIA RTX 3070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실험 내용 — 데이터 및 환경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3373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데이터2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06726"/>
              </p:ext>
            </p:extLst>
          </p:nvPr>
        </p:nvGraphicFramePr>
        <p:xfrm>
          <a:off x="640080" y="1920240"/>
          <a:ext cx="3566160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지역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FF"/>
                          </a:solidFill>
                        </a:rPr>
                        <a:t>안동</a:t>
                      </a:r>
                      <a:endParaRPr lang="en-US" sz="10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발전소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 err="1">
                          <a:solidFill>
                            <a:srgbClr val="0000FF"/>
                          </a:solidFill>
                        </a:rPr>
                        <a:t>기븐텍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</a:rPr>
                        <a:t> 태양광 </a:t>
                      </a:r>
                      <a:endParaRPr lang="en-US" sz="10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기간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2024.05.07 ~ 2025.04.07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타겟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태양광 발전량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시계열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24시간(1일) 단위 생성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0" y="1280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13373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특징량 (10종)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74505"/>
              </p:ext>
            </p:extLst>
          </p:nvPr>
        </p:nvGraphicFramePr>
        <p:xfrm>
          <a:off x="4937760" y="1874520"/>
          <a:ext cx="3566160" cy="281635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특징량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기온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기압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일조시간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일사량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적설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전운량(10분위)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</a:rPr>
                        <a:t>중하층운량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</a:rPr>
                        <a:t>운저량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시정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</a:rPr>
                        <a:t>지면온도</a:t>
                      </a:r>
                      <a:r>
                        <a:rPr lang="en-US" sz="100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HW: Intel Core 3.0GHz / NVIDIA RTX 3070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48227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실험 내용 — 전처리 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8016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데이터 특성을 고려한 선형 보간법(Linear Interpolation) 적용으로 데이터 연속성 유지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4688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28016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제거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수정된 IQR 방법</a:t>
            </a:r>
            <a:endParaRPr lang="en-US" sz="1100" dirty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(하위 0.05, 상위 0.95)</a:t>
            </a:r>
            <a:endParaRPr lang="en-US" sz="1100" dirty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적용으로 극단값 제거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4688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28016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분석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468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PCC/SCC 방법으로 기상 특징량과 발전량 간 상관관계 계산 후 가중치 부여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상관관계 분석(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데이터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29260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 요약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256032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그룹 (강한 상관)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지표면 일사량: 0.847</a:t>
            </a:r>
            <a:endParaRPr lang="en-US" sz="110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대기권밖 일사량: 0.798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일조: 0.693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그룹 (약한 상관)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강수량: 0.064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적설: 0.008</a:t>
            </a:r>
            <a:endParaRPr lang="en-US" sz="1100" dirty="0">
              <a:highlight>
                <a:srgbClr val="FFFF00"/>
              </a:highlight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전체 특징 vs 하위 2개 제거(8개) 비교 실험 수행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상관관계 분석(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데이터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760720" y="1005840"/>
            <a:ext cx="29260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 요약(SCC</a:t>
            </a:r>
            <a:r>
              <a:rPr lang="ko-KR" alt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altLang="ko-KR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256032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그룹 (강한 상관)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일사량</a:t>
            </a:r>
            <a:r>
              <a:rPr lang="en-US" altLang="ko-KR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0.89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일조시간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0.72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ko-KR" alt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지면온도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0.41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그룹 (약한 상관)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기압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0.03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적설: 0.000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65" y="1005839"/>
            <a:ext cx="5115285" cy="405971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18220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가중치 실험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비교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24688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LSTM+Linear (Test)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0.988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2648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2648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모델이 머신러닝 대비 높은 예측 성능 달성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앙상블 실험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비교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24688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0.9425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0.9254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8873" y="3114162"/>
            <a:ext cx="2678042" cy="106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ko-KR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베이스 모델이 보이는 구간별 오차 특성을 </a:t>
            </a:r>
            <a:r>
              <a:rPr lang="ko-KR" altLang="en-US" sz="1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학습적으로</a:t>
            </a:r>
            <a:r>
              <a:rPr lang="ko-KR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결합함으로써</a:t>
            </a:r>
            <a:r>
              <a:rPr lang="en-US" altLang="ko-KR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모델에서 발생하는 국지적 큰 오차를 완화하고 연속 지평 예측에서의 안정성을 향상시킨 것으로 해석</a:t>
            </a:r>
            <a:endParaRPr lang="en-US" sz="1000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2099"/>
              </p:ext>
            </p:extLst>
          </p:nvPr>
        </p:nvGraphicFramePr>
        <p:xfrm>
          <a:off x="394207" y="1569568"/>
          <a:ext cx="5305735" cy="2049705"/>
        </p:xfrm>
        <a:graphic>
          <a:graphicData uri="http://schemas.openxmlformats.org/drawingml/2006/table">
            <a:tbl>
              <a:tblPr/>
              <a:tblGrid>
                <a:gridCol w="1326595">
                  <a:extLst>
                    <a:ext uri="{9D8B030D-6E8A-4147-A177-3AD203B41FA5}">
                      <a16:colId xmlns:a16="http://schemas.microsoft.com/office/drawing/2014/main" val="2681532195"/>
                    </a:ext>
                  </a:extLst>
                </a:gridCol>
                <a:gridCol w="1326595">
                  <a:extLst>
                    <a:ext uri="{9D8B030D-6E8A-4147-A177-3AD203B41FA5}">
                      <a16:colId xmlns:a16="http://schemas.microsoft.com/office/drawing/2014/main" val="698155720"/>
                    </a:ext>
                  </a:extLst>
                </a:gridCol>
                <a:gridCol w="1326595">
                  <a:extLst>
                    <a:ext uri="{9D8B030D-6E8A-4147-A177-3AD203B41FA5}">
                      <a16:colId xmlns:a16="http://schemas.microsoft.com/office/drawing/2014/main" val="1690277395"/>
                    </a:ext>
                  </a:extLst>
                </a:gridCol>
                <a:gridCol w="1325950">
                  <a:extLst>
                    <a:ext uri="{9D8B030D-6E8A-4147-A177-3AD203B41FA5}">
                      <a16:colId xmlns:a16="http://schemas.microsoft.com/office/drawing/2014/main" val="2937898047"/>
                    </a:ext>
                  </a:extLst>
                </a:gridCol>
              </a:tblGrid>
              <a:tr h="42149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Model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Performance Metrics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588762"/>
                  </a:ext>
                </a:extLst>
              </a:tr>
              <a:tr h="785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RMSE</a:t>
                      </a:r>
                      <a:endParaRPr lang="en-US" sz="1400" b="1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MAE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R^2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6246"/>
                  </a:ext>
                </a:extLst>
              </a:tr>
              <a:tr h="4214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XGBoost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70.8353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32.9037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0.9254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317023"/>
                  </a:ext>
                </a:extLst>
              </a:tr>
              <a:tr h="4214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Stacking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62.2138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32.2340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0.9425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118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712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앙상블 실험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</a:t>
            </a:r>
            <a:r>
              <a:rPr lang="en-US" altLang="ko-K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비교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24688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DL+RF+XGB+LGBM - Spearman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0.797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- Spearman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0.5211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8873" y="3114162"/>
            <a:ext cx="2678042" cy="106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ko-KR" altLang="en-US" sz="1000" b="1" dirty="0" err="1">
                <a:solidFill>
                  <a:srgbClr val="1E3A5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스피어맨</a:t>
            </a:r>
            <a:r>
              <a:rPr lang="ko-KR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기반의 최종 </a:t>
            </a:r>
            <a:r>
              <a:rPr lang="ko-KR" altLang="en-US" sz="1000" b="1" dirty="0">
                <a:solidFill>
                  <a:srgbClr val="1E3A5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앙상블 모델</a:t>
            </a:r>
            <a:r>
              <a:rPr lang="ko-KR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발전량 변동성이 큰 구간에서도 가장 안정적인 예측 성능을 확인 할 수 있으며 본 연구의 유효성을 입증</a:t>
            </a:r>
            <a:endParaRPr lang="en-US" sz="1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73361"/>
              </p:ext>
            </p:extLst>
          </p:nvPr>
        </p:nvGraphicFramePr>
        <p:xfrm>
          <a:off x="194199" y="1968879"/>
          <a:ext cx="5688076" cy="2263642"/>
        </p:xfrm>
        <a:graphic>
          <a:graphicData uri="http://schemas.openxmlformats.org/drawingml/2006/table">
            <a:tbl>
              <a:tblPr/>
              <a:tblGrid>
                <a:gridCol w="1422019">
                  <a:extLst>
                    <a:ext uri="{9D8B030D-6E8A-4147-A177-3AD203B41FA5}">
                      <a16:colId xmlns:a16="http://schemas.microsoft.com/office/drawing/2014/main" val="340809411"/>
                    </a:ext>
                  </a:extLst>
                </a:gridCol>
                <a:gridCol w="1422019">
                  <a:extLst>
                    <a:ext uri="{9D8B030D-6E8A-4147-A177-3AD203B41FA5}">
                      <a16:colId xmlns:a16="http://schemas.microsoft.com/office/drawing/2014/main" val="2197360022"/>
                    </a:ext>
                  </a:extLst>
                </a:gridCol>
                <a:gridCol w="1422019">
                  <a:extLst>
                    <a:ext uri="{9D8B030D-6E8A-4147-A177-3AD203B41FA5}">
                      <a16:colId xmlns:a16="http://schemas.microsoft.com/office/drawing/2014/main" val="2727720368"/>
                    </a:ext>
                  </a:extLst>
                </a:gridCol>
                <a:gridCol w="1422019">
                  <a:extLst>
                    <a:ext uri="{9D8B030D-6E8A-4147-A177-3AD203B41FA5}">
                      <a16:colId xmlns:a16="http://schemas.microsoft.com/office/drawing/2014/main" val="267866583"/>
                    </a:ext>
                  </a:extLst>
                </a:gridCol>
              </a:tblGrid>
              <a:tr h="32321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Sortation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Pearson /　Spearman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578134"/>
                  </a:ext>
                </a:extLst>
              </a:tr>
              <a:tr h="333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RMSE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MAE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R2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776401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spc="-5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DL</a:t>
                      </a:r>
                      <a:r>
                        <a:rPr lang="en-US" sz="900" b="1" kern="0" spc="-5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(CNN-LSTM-Attention)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0.2099 / 0.1742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0.1046 / 0.0904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0.3497 / 0.5211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676801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spc="-2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DL+RF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0.1171 / 0.1171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0.0564 / 0.0564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0.7826 / 0.7826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036456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spc="-2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DL+</a:t>
                      </a:r>
                      <a:r>
                        <a:rPr lang="en-US" sz="1050" b="1" kern="0" spc="-11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XGB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0.1162 / 0.1162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0.0576 / 0.0576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0.7859 / 0.7859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932972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spc="-2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DL+</a:t>
                      </a:r>
                      <a:r>
                        <a:rPr lang="en-US" sz="1050" b="1" kern="0" spc="-11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LGBM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0.1141 / 0.1141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0.0555 / 0.0555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0.7936 / 0.7935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87174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spc="-2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DL+RF+</a:t>
                      </a:r>
                      <a:r>
                        <a:rPr lang="en-US" sz="1050" b="1" kern="0" spc="-11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XGB+LGBM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0.1209 / 0.1131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0.0604 / 0.0557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한양신명조"/>
                        </a:rPr>
                        <a:t>0.7682 / </a:t>
                      </a:r>
                      <a:r>
                        <a:rPr lang="en-US" sz="1000" b="1" kern="0" spc="0" dirty="0">
                          <a:solidFill>
                            <a:srgbClr val="0000FF"/>
                          </a:solidFill>
                          <a:effectLst/>
                          <a:latin typeface="한양신명조"/>
                          <a:ea typeface="한양신명조"/>
                        </a:rPr>
                        <a:t>0.7970</a:t>
                      </a:r>
                      <a:endParaRPr lang="en-US" sz="1000" b="1" kern="0" spc="0" dirty="0">
                        <a:solidFill>
                          <a:srgbClr val="0000FF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29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683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발전량 예측</a:t>
            </a:r>
            <a:endParaRPr lang="en-US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349881" y="960120"/>
            <a:ext cx="590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/>
              <a:t>선형 </a:t>
            </a:r>
            <a:r>
              <a:rPr lang="ko-KR" altLang="en-US" dirty="0" err="1"/>
              <a:t>가중치기반</a:t>
            </a:r>
            <a:r>
              <a:rPr lang="ko-KR" altLang="en-US" dirty="0"/>
              <a:t> </a:t>
            </a:r>
            <a:r>
              <a:rPr lang="en-US" altLang="ko-KR" dirty="0"/>
              <a:t>LSTM </a:t>
            </a:r>
            <a:r>
              <a:rPr lang="ko-KR" altLang="en-US" dirty="0"/>
              <a:t>적용 발전량 예측</a:t>
            </a:r>
            <a:r>
              <a:rPr lang="en-US" altLang="ko-KR" dirty="0"/>
              <a:t>(24</a:t>
            </a:r>
            <a:r>
              <a:rPr lang="ko-KR" altLang="en-US" dirty="0"/>
              <a:t>시간 예측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91" y="1400905"/>
            <a:ext cx="5471191" cy="363744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512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실험 결과 — </a:t>
            </a:r>
            <a:r>
              <a:rPr lang="ko-KR" alt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발전량 예측</a:t>
            </a:r>
            <a:endParaRPr lang="en-US" sz="2200" dirty="0"/>
          </a:p>
        </p:txBody>
      </p:sp>
      <p:pic>
        <p:nvPicPr>
          <p:cNvPr id="1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245" y="1466611"/>
            <a:ext cx="4478918" cy="34426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349881" y="960120"/>
            <a:ext cx="475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/>
              <a:t>앙상블 방법 발전량 예측 비교</a:t>
            </a:r>
            <a:r>
              <a:rPr lang="en-US" altLang="ko-KR" dirty="0"/>
              <a:t>(168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619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알고리즘을 통한 기상 특징과 발전량 간 정량적 상관관계 분석 완료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가중치 방법 중 선형(Linear) 가중치가 LSTM 모델에서 최적 성능 달성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443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스택 앙상블 모델에서 </a:t>
            </a:r>
            <a:r>
              <a:rPr lang="ko-KR" alt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스피어맨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상관계수를 적용했을 때 </a:t>
            </a:r>
            <a:r>
              <a:rPr lang="ko-KR" alt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피어슨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대비 예측 성능 향상 확인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3016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지표면 일사량(0.847), 대기권밖 일사량(0.798)이 발전량과 가장 높은 상관관계 확인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1596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기반 발전량 예측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모델(LSTM)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및 앙상블 응용 알고리즘 개발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기대효과 및 실적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01008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838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946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시장 효율성 향상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3124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발전량 예측으로 불균형 페널티 절감 및 전력 거래 최적화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61128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4400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906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배출 저감 기여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272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배출권 시장 효율성 상승으로 저탄소 전환 경제적 유도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821248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0412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866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이전 및 산업 적용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232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(주)기븐텍 기술이전 완료로 실용화 추진 중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355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실적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3872808"/>
            <a:ext cx="1371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3"/>
          <p:cNvSpPr/>
          <p:nvPr/>
        </p:nvSpPr>
        <p:spPr>
          <a:xfrm>
            <a:off x="457200" y="4009968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57200" y="400996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4편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371600" y="400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학술대회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논문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91840" y="4009968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3291840" y="400996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1건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4206240" y="400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(주)기븐텍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26480" y="4009968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126480" y="400996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2편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7040880" y="400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KCI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1540</Words>
  <Application>Microsoft Office PowerPoint</Application>
  <PresentationFormat>화면 슬라이드 쇼(16:9)</PresentationFormat>
  <Paragraphs>383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KoPubWorld돋움체 Medium</vt:lpstr>
      <vt:lpstr>맑은 고딕</vt:lpstr>
      <vt:lpstr>한양신명조</vt:lpstr>
      <vt:lpstr>한컴 말랑말랑 Bold</vt:lpstr>
      <vt:lpstr>Arial</vt:lpstr>
      <vt:lpstr>Calibri</vt:lpstr>
      <vt:lpstr>Consolas</vt:lpstr>
      <vt:lpstr>Georgia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일조량을 반영한 인공지능 기반 독립형 태양광 하이브리드의 발전량 예측 모델 연구</dc:title>
  <dc:subject>PptxGenJS Presentation</dc:subject>
  <dc:creator>Research Team</dc:creator>
  <cp:lastModifiedBy>Shim Jaechang</cp:lastModifiedBy>
  <cp:revision>26</cp:revision>
  <dcterms:created xsi:type="dcterms:W3CDTF">2026-02-06T22:46:11Z</dcterms:created>
  <dcterms:modified xsi:type="dcterms:W3CDTF">2026-02-10T05:10:35Z</dcterms:modified>
</cp:coreProperties>
</file>